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 autoAdjust="0"/>
    <p:restoredTop sz="94557" autoAdjust="0"/>
  </p:normalViewPr>
  <p:slideViewPr>
    <p:cSldViewPr>
      <p:cViewPr varScale="1">
        <p:scale>
          <a:sx n="76" d="100"/>
          <a:sy n="76" d="100"/>
        </p:scale>
        <p:origin x="240" y="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38A249-C248-EE72-BBB9-85C91C472771}"/>
              </a:ext>
            </a:extLst>
          </p:cNvPr>
          <p:cNvSpPr txBox="1"/>
          <p:nvPr/>
        </p:nvSpPr>
        <p:spPr>
          <a:xfrm>
            <a:off x="584200" y="509349"/>
            <a:ext cx="10953254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Meditations - Selected Passages</a:t>
            </a:r>
          </a:p>
          <a:p>
            <a:endParaRPr lang="en-US" dirty="0"/>
          </a:p>
          <a:p>
            <a:r>
              <a:rPr lang="en-US" dirty="0"/>
              <a:t>By Marcus Aurelius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Public-domain source text:</a:t>
            </a:r>
          </a:p>
          <a:p>
            <a:endParaRPr lang="en-US" dirty="0"/>
          </a:p>
          <a:p>
            <a:r>
              <a:rPr lang="en-US" dirty="0"/>
              <a:t>Project Gutenberg, `Meditations of the Emperor Marcus Aurelius Antoninus`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www.gutenberg.org</a:t>
            </a:r>
            <a:r>
              <a:rPr lang="en-US" dirty="0"/>
              <a:t>/files/55317/55317-h/55317-h.htm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Translation note:</a:t>
            </a:r>
          </a:p>
          <a:p>
            <a:endParaRPr lang="en-US" dirty="0"/>
          </a:p>
          <a:p>
            <a:r>
              <a:rPr lang="en-US" dirty="0"/>
              <a:t>George W. Chrystal's 1902 rendering, based on the Foulis translation of 1742.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file is a manually curated, sectional markdown excerpt for extraction and</a:t>
            </a:r>
          </a:p>
          <a:p>
            <a:endParaRPr lang="en-US" dirty="0"/>
          </a:p>
          <a:p>
            <a:r>
              <a:rPr lang="en-US" dirty="0"/>
              <a:t>formatting tests.</a:t>
            </a:r>
          </a:p>
        </p:txBody>
      </p:sp>
    </p:spTree>
    <p:extLst>
      <p:ext uri="{BB962C8B-B14F-4D97-AF65-F5344CB8AC3E}">
        <p14:creationId xmlns:p14="http://schemas.microsoft.com/office/powerpoint/2010/main" val="4025526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BB7DED-CFAB-85AA-1127-D279C0FE7A08}"/>
              </a:ext>
            </a:extLst>
          </p:cNvPr>
          <p:cNvSpPr txBox="1"/>
          <p:nvPr/>
        </p:nvSpPr>
        <p:spPr>
          <a:xfrm>
            <a:off x="274320" y="365760"/>
            <a:ext cx="7767063" cy="867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## Book II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### On Meeting Difficult People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&gt; Say this to yourself in the </a:t>
            </a:r>
            <a:r>
              <a:rPr lang="en-US" dirty="0" err="1"/>
              <a:t>morninsg</a:t>
            </a:r>
            <a:r>
              <a:rPr lang="en-US" dirty="0"/>
              <a:t>: Today I shall have to do with meddlers,</a:t>
            </a:r>
          </a:p>
          <a:p>
            <a:endParaRPr lang="en-US" dirty="0"/>
          </a:p>
          <a:p>
            <a:r>
              <a:rPr lang="en-US" dirty="0"/>
              <a:t>&gt; with the ungrateful, with the insolent, with the crafty, with the envious and</a:t>
            </a:r>
          </a:p>
          <a:p>
            <a:endParaRPr lang="en-US" dirty="0"/>
          </a:p>
          <a:p>
            <a:r>
              <a:rPr lang="en-US" dirty="0"/>
              <a:t>&gt; the selfish.</a:t>
            </a:r>
          </a:p>
          <a:p>
            <a:endParaRPr lang="en-US" dirty="0"/>
          </a:p>
          <a:p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&gt; All these vices have beset them, because they know not what is good and what</a:t>
            </a:r>
          </a:p>
          <a:p>
            <a:endParaRPr lang="en-US" dirty="0"/>
          </a:p>
          <a:p>
            <a:r>
              <a:rPr lang="en-US" dirty="0"/>
              <a:t>&gt; is evil.</a:t>
            </a:r>
          </a:p>
          <a:p>
            <a:endParaRPr lang="en-US" dirty="0"/>
          </a:p>
          <a:p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&gt; I cannot be angry with my brother, or sever myself from him, for we are made</a:t>
            </a:r>
          </a:p>
          <a:p>
            <a:endParaRPr lang="en-US" dirty="0"/>
          </a:p>
          <a:p>
            <a:r>
              <a:rPr lang="en-US" dirty="0"/>
              <a:t>&gt; by nature for mutual assistance, like the feet, the hands, the eyelids, the</a:t>
            </a:r>
          </a:p>
          <a:p>
            <a:endParaRPr lang="en-US" dirty="0"/>
          </a:p>
          <a:p>
            <a:r>
              <a:rPr lang="en-US" dirty="0"/>
              <a:t>&gt; upper and lower rows of teeth.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Source: section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AA482-E207-EA46-F323-C9207F392904}"/>
              </a:ext>
            </a:extLst>
          </p:cNvPr>
          <p:cNvSpPr txBox="1"/>
          <p:nvPr/>
        </p:nvSpPr>
        <p:spPr>
          <a:xfrm>
            <a:off x="8041383" y="0"/>
            <a:ext cx="7378687" cy="8125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### On Action and Character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&gt; Hourly and earnestly strive, as a Roman and a man, to do what falls to your</a:t>
            </a:r>
          </a:p>
          <a:p>
            <a:endParaRPr lang="en-US" dirty="0"/>
          </a:p>
          <a:p>
            <a:r>
              <a:rPr lang="en-US" dirty="0"/>
              <a:t>&gt; hand with perfect unaffected dignity, with kindliness, freedom and justice,</a:t>
            </a:r>
          </a:p>
          <a:p>
            <a:endParaRPr lang="en-US" dirty="0"/>
          </a:p>
          <a:p>
            <a:r>
              <a:rPr lang="en-US" dirty="0"/>
              <a:t>&gt; and free your soul from every other imagination.</a:t>
            </a:r>
          </a:p>
          <a:p>
            <a:endParaRPr lang="en-US" dirty="0"/>
          </a:p>
          <a:p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&gt; This you will accomplish if you perform each action as if it were your last,</a:t>
            </a:r>
          </a:p>
          <a:p>
            <a:endParaRPr lang="en-US" dirty="0"/>
          </a:p>
          <a:p>
            <a:r>
              <a:rPr lang="en-US" dirty="0"/>
              <a:t>&gt; without </a:t>
            </a:r>
            <a:r>
              <a:rPr lang="en-US" dirty="0" err="1"/>
              <a:t>wilfulness</a:t>
            </a:r>
            <a:r>
              <a:rPr lang="en-US" dirty="0"/>
              <a:t>, or any passionate aversion to what reason approves;</a:t>
            </a:r>
          </a:p>
          <a:p>
            <a:endParaRPr lang="en-US" dirty="0"/>
          </a:p>
          <a:p>
            <a:r>
              <a:rPr lang="en-US" dirty="0"/>
              <a:t>&gt; without hypocrisy or selfishness, or discontent with the decrees of</a:t>
            </a:r>
          </a:p>
          <a:p>
            <a:endParaRPr lang="en-US" dirty="0"/>
          </a:p>
          <a:p>
            <a:r>
              <a:rPr lang="en-US" dirty="0"/>
              <a:t>&gt; Providence.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Source: section 5</a:t>
            </a:r>
          </a:p>
        </p:txBody>
      </p:sp>
    </p:spTree>
    <p:extLst>
      <p:ext uri="{BB962C8B-B14F-4D97-AF65-F5344CB8AC3E}">
        <p14:creationId xmlns:p14="http://schemas.microsoft.com/office/powerpoint/2010/main" val="2968352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DC642E-AFFB-6249-D0FF-FA5945F055F0}"/>
              </a:ext>
            </a:extLst>
          </p:cNvPr>
          <p:cNvSpPr txBox="1"/>
          <p:nvPr/>
        </p:nvSpPr>
        <p:spPr>
          <a:xfrm>
            <a:off x="508000" y="304800"/>
            <a:ext cx="812292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Focusing Your Mind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Cares from without distract you: take leisure, then, to add some good thing</a:t>
            </a:r>
          </a:p>
          <a:p>
            <a:endParaRPr lang="en-US" sz="1200" dirty="0"/>
          </a:p>
          <a:p>
            <a:r>
              <a:rPr lang="en-US" sz="1200" dirty="0"/>
              <a:t>&gt; to your knowledge; have done with vacillation, and avoid the other error.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For triflers, too, are they who, by their activities, weary themselves in</a:t>
            </a:r>
          </a:p>
          <a:p>
            <a:endParaRPr lang="en-US" sz="1200" dirty="0"/>
          </a:p>
          <a:p>
            <a:r>
              <a:rPr lang="en-US" sz="1200" dirty="0"/>
              <a:t>&gt; life, and have no settled aim to which they may direct, once and for all,</a:t>
            </a:r>
          </a:p>
          <a:p>
            <a:endParaRPr lang="en-US" sz="1200" dirty="0"/>
          </a:p>
          <a:p>
            <a:r>
              <a:rPr lang="en-US" sz="1200" dirty="0"/>
              <a:t>&gt; their every desire and project.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7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Looking Inward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Seldom are any found unhappy from not observing what is in the minds of</a:t>
            </a:r>
          </a:p>
          <a:p>
            <a:endParaRPr lang="en-US" sz="1200" dirty="0"/>
          </a:p>
          <a:p>
            <a:r>
              <a:rPr lang="en-US" sz="1200" dirty="0"/>
              <a:t>&gt; others.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But such as observe not well the stirrings of their own souls must of</a:t>
            </a:r>
          </a:p>
          <a:p>
            <a:endParaRPr lang="en-US" sz="1200" dirty="0"/>
          </a:p>
          <a:p>
            <a:r>
              <a:rPr lang="en-US" sz="1200" dirty="0"/>
              <a:t>&gt; necessity be unhappy.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8</a:t>
            </a:r>
          </a:p>
        </p:txBody>
      </p:sp>
    </p:spTree>
    <p:extLst>
      <p:ext uri="{BB962C8B-B14F-4D97-AF65-F5344CB8AC3E}">
        <p14:creationId xmlns:p14="http://schemas.microsoft.com/office/powerpoint/2010/main" val="143313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2F4A0F-C5C6-97DD-2085-A2F5C2AA90B8}"/>
              </a:ext>
            </a:extLst>
          </p:cNvPr>
          <p:cNvSpPr txBox="1"/>
          <p:nvPr/>
        </p:nvSpPr>
        <p:spPr>
          <a:xfrm>
            <a:off x="1236133" y="711200"/>
            <a:ext cx="5209824" cy="36840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Mortality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The duration of man's life is but an instant; his substance is fleeting, his</a:t>
            </a:r>
          </a:p>
          <a:p>
            <a:endParaRPr lang="en-US" sz="1200" dirty="0"/>
          </a:p>
          <a:p>
            <a:r>
              <a:rPr lang="en-US" sz="1200" dirty="0"/>
              <a:t>&gt; senses dull; the structure of his body corruptible; the soul but a vortex.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In fine, the life of the body is but a river, and the life of the soul a</a:t>
            </a:r>
          </a:p>
          <a:p>
            <a:endParaRPr lang="en-US" sz="1200" dirty="0"/>
          </a:p>
          <a:p>
            <a:r>
              <a:rPr lang="en-US" sz="1200" dirty="0"/>
              <a:t>&gt; misty dream.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Existence is a warfare, and a journey in a strange land; and the end of fame</a:t>
            </a:r>
          </a:p>
          <a:p>
            <a:endParaRPr lang="en-US" sz="1200" dirty="0"/>
          </a:p>
          <a:p>
            <a:r>
              <a:rPr lang="en-US" sz="1200" dirty="0"/>
              <a:t>&gt; is to be forgotten.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17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Philosophy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What then avails to guide us? One thing, and one alone-Philosophy.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And this consists in keeping the divinity within inviolate and intact;</a:t>
            </a:r>
          </a:p>
          <a:p>
            <a:endParaRPr lang="en-US" sz="1200" dirty="0"/>
          </a:p>
          <a:p>
            <a:r>
              <a:rPr lang="en-US" sz="1200" dirty="0"/>
              <a:t>&gt; victorious over pain and pleasure; free from temerity, free from falsehood,</a:t>
            </a:r>
          </a:p>
          <a:p>
            <a:endParaRPr lang="en-US" sz="1200" dirty="0"/>
          </a:p>
          <a:p>
            <a:r>
              <a:rPr lang="en-US" sz="1200" dirty="0"/>
              <a:t>&gt; free from hypocrisy; independent of what others do or fail to do.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17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 Book III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the Present Moment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Remember also that every man lives only this present moment, which is a</a:t>
            </a:r>
          </a:p>
          <a:p>
            <a:endParaRPr lang="en-US" sz="1200" dirty="0"/>
          </a:p>
          <a:p>
            <a:r>
              <a:rPr lang="en-US" sz="1200" dirty="0"/>
              <a:t>&gt; fleeting instant: the rest of time is either spent or quite unknown.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Short is the time which each of us has to live, and small the corner of the</a:t>
            </a:r>
          </a:p>
          <a:p>
            <a:endParaRPr lang="en-US" sz="1200" dirty="0"/>
          </a:p>
          <a:p>
            <a:r>
              <a:rPr lang="en-US" sz="1200" dirty="0"/>
              <a:t>&gt; earth he has to live in.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10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 Book IV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Simplicity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Let no action be done at random, nor otherwise than in complete accordance</a:t>
            </a:r>
          </a:p>
          <a:p>
            <a:endParaRPr lang="en-US" sz="1200" dirty="0"/>
          </a:p>
          <a:p>
            <a:r>
              <a:rPr lang="en-US" sz="1200" dirty="0"/>
              <a:t>&gt; with the principles involved.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2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Retreat Within Yourself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Men seek retirement in the country, on the sea-coast, in the mountains; and</a:t>
            </a:r>
          </a:p>
          <a:p>
            <a:endParaRPr lang="en-US" sz="1200" dirty="0"/>
          </a:p>
          <a:p>
            <a:r>
              <a:rPr lang="en-US" sz="1200" dirty="0"/>
              <a:t>&gt; you too have frequent longings for such distractions.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Yet surely this is great folly, since you may retire into yourself at any</a:t>
            </a:r>
          </a:p>
          <a:p>
            <a:endParaRPr lang="en-US" sz="1200" dirty="0"/>
          </a:p>
          <a:p>
            <a:r>
              <a:rPr lang="en-US" sz="1200" dirty="0"/>
              <a:t>&gt; hour you please.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Nowhere can a man find any retreat more quiet and more full of leisure than</a:t>
            </a:r>
          </a:p>
          <a:p>
            <a:endParaRPr lang="en-US" sz="1200" dirty="0"/>
          </a:p>
          <a:p>
            <a:r>
              <a:rPr lang="en-US" sz="1200" dirty="0"/>
              <a:t>&gt; in his own soul.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3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Pain and Judgment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Suppress the thought; and the cry "I am hurt!" is gone.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Suppress "I am hurt!" and you suppress the injury.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7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### On Changing Your Mind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&gt; For two things be ever ready: First, to do that only which reason, the</a:t>
            </a:r>
          </a:p>
          <a:p>
            <a:endParaRPr lang="en-US" sz="1200" dirty="0"/>
          </a:p>
          <a:p>
            <a:r>
              <a:rPr lang="en-US" sz="1200" dirty="0"/>
              <a:t>&gt; sovereign and legislative faculty, suggests for the good of mankind:</a:t>
            </a:r>
          </a:p>
          <a:p>
            <a:endParaRPr lang="en-US" sz="1200" dirty="0"/>
          </a:p>
          <a:p>
            <a:r>
              <a:rPr lang="en-US" sz="1200" dirty="0"/>
              <a:t>&gt; Secondly, to change your course on meeting any one who can correct and alter</a:t>
            </a:r>
          </a:p>
          <a:p>
            <a:endParaRPr lang="en-US" sz="1200" dirty="0"/>
          </a:p>
          <a:p>
            <a:r>
              <a:rPr lang="en-US" sz="1200" dirty="0"/>
              <a:t>&gt; your opinion.</a:t>
            </a:r>
          </a:p>
          <a:p>
            <a:endParaRPr lang="en-US" sz="1200" dirty="0"/>
          </a:p>
          <a:p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&gt; But let the change be made because you really believe it to be in the</a:t>
            </a:r>
          </a:p>
          <a:p>
            <a:endParaRPr lang="en-US" sz="1200" dirty="0"/>
          </a:p>
          <a:p>
            <a:r>
              <a:rPr lang="en-US" sz="1200" dirty="0"/>
              <a:t>&gt; interest of justice or the public good, or such like, and not with any view</a:t>
            </a:r>
          </a:p>
          <a:p>
            <a:endParaRPr lang="en-US" sz="1200" dirty="0"/>
          </a:p>
          <a:p>
            <a:r>
              <a:rPr lang="en-US" sz="1200" dirty="0"/>
              <a:t>&gt; to pleasure or glory for yourself.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Source: section 12</a:t>
            </a:r>
          </a:p>
        </p:txBody>
      </p:sp>
    </p:spTree>
    <p:extLst>
      <p:ext uri="{BB962C8B-B14F-4D97-AF65-F5344CB8AC3E}">
        <p14:creationId xmlns:p14="http://schemas.microsoft.com/office/powerpoint/2010/main" val="28450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906</Words>
  <Application>Microsoft Macintosh PowerPoint</Application>
  <PresentationFormat>Custom</PresentationFormat>
  <Paragraphs>328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Sean Missingham</cp:lastModifiedBy>
  <cp:revision>2</cp:revision>
  <dcterms:created xsi:type="dcterms:W3CDTF">2006-08-16T00:00:00Z</dcterms:created>
  <dcterms:modified xsi:type="dcterms:W3CDTF">2026-06-05T07:46:13Z</dcterms:modified>
</cp:coreProperties>
</file>